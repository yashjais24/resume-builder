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</p:sldMasterIdLst>
  <p:notesMasterIdLst>
    <p:notesMasterId r:id="rId16"/>
  </p:notesMasterIdLst>
  <p:handoutMasterIdLst>
    <p:handoutMasterId r:id="rId17"/>
  </p:handoutMasterIdLst>
  <p:sldIdLst>
    <p:sldId id="1938" r:id="rId5"/>
    <p:sldId id="1940" r:id="rId6"/>
    <p:sldId id="1936" r:id="rId7"/>
    <p:sldId id="1941" r:id="rId8"/>
    <p:sldId id="1924" r:id="rId9"/>
    <p:sldId id="1929" r:id="rId10"/>
    <p:sldId id="1882" r:id="rId11"/>
    <p:sldId id="1877" r:id="rId12"/>
    <p:sldId id="1878" r:id="rId13"/>
    <p:sldId id="1939" r:id="rId14"/>
    <p:sldId id="194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071"/>
    <a:srgbClr val="FF7676"/>
    <a:srgbClr val="6A1F60"/>
    <a:srgbClr val="CA4F67"/>
    <a:srgbClr val="0796D0"/>
    <a:srgbClr val="C60B68"/>
    <a:srgbClr val="F7D6D6"/>
    <a:srgbClr val="A69AC7"/>
    <a:srgbClr val="EACAD0"/>
    <a:srgbClr val="C50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42" autoAdjust="0"/>
  </p:normalViewPr>
  <p:slideViewPr>
    <p:cSldViewPr snapToGrid="0">
      <p:cViewPr>
        <p:scale>
          <a:sx n="66" d="100"/>
          <a:sy n="66" d="100"/>
        </p:scale>
        <p:origin x="1330" y="1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3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D96772-9817-D32D-CFDB-4082AEA13D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6172B-8397-3A88-9BA7-9C3DBC65BB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828F9-B03F-44CA-BF33-27494910E99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08E2D-8C3D-B8DD-3F2A-AA9AE2C326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C741F-C3B9-696C-07A4-6B6C6E1BE0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5BC5F-DD29-48CA-B1A9-365C6504E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2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5F59B-C668-4011-983E-F315D5C6132D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F99F9-2769-4C52-8EE2-7278119F0A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2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31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189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059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A03A7DE-E2C6-D3DE-2D3C-0E50AB453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348" y="822701"/>
            <a:ext cx="5439251" cy="5439251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155AC3-4048-A012-522F-9975DD437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52413" y="1318559"/>
            <a:ext cx="389835" cy="389835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6BC318-7E9C-A53F-C445-78301FFF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841" y="5012346"/>
            <a:ext cx="837678" cy="837678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EC2B4886-6DF6-0A57-7118-513A7AAA4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53347" y="0"/>
            <a:ext cx="1499066" cy="1061910"/>
          </a:xfrm>
          <a:custGeom>
            <a:avLst/>
            <a:gdLst>
              <a:gd name="connsiteX0" fmla="*/ 70097 w 1499066"/>
              <a:gd name="connsiteY0" fmla="*/ 0 h 1061910"/>
              <a:gd name="connsiteX1" fmla="*/ 1428969 w 1499066"/>
              <a:gd name="connsiteY1" fmla="*/ 0 h 1061910"/>
              <a:gd name="connsiteX2" fmla="*/ 1440164 w 1499066"/>
              <a:gd name="connsiteY2" fmla="*/ 20625 h 1061910"/>
              <a:gd name="connsiteX3" fmla="*/ 1499066 w 1499066"/>
              <a:gd name="connsiteY3" fmla="*/ 312377 h 1061910"/>
              <a:gd name="connsiteX4" fmla="*/ 749533 w 1499066"/>
              <a:gd name="connsiteY4" fmla="*/ 1061910 h 1061910"/>
              <a:gd name="connsiteX5" fmla="*/ 0 w 1499066"/>
              <a:gd name="connsiteY5" fmla="*/ 312377 h 1061910"/>
              <a:gd name="connsiteX6" fmla="*/ 58902 w 1499066"/>
              <a:gd name="connsiteY6" fmla="*/ 20625 h 106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9066" h="1061910">
                <a:moveTo>
                  <a:pt x="70097" y="0"/>
                </a:moveTo>
                <a:lnTo>
                  <a:pt x="1428969" y="0"/>
                </a:lnTo>
                <a:lnTo>
                  <a:pt x="1440164" y="20625"/>
                </a:lnTo>
                <a:cubicBezTo>
                  <a:pt x="1478092" y="110298"/>
                  <a:pt x="1499066" y="208888"/>
                  <a:pt x="1499066" y="312377"/>
                </a:cubicBezTo>
                <a:cubicBezTo>
                  <a:pt x="1499066" y="726333"/>
                  <a:pt x="1163489" y="1061910"/>
                  <a:pt x="749533" y="1061910"/>
                </a:cubicBezTo>
                <a:cubicBezTo>
                  <a:pt x="335577" y="1061910"/>
                  <a:pt x="0" y="726333"/>
                  <a:pt x="0" y="312377"/>
                </a:cubicBezTo>
                <a:cubicBezTo>
                  <a:pt x="0" y="208888"/>
                  <a:pt x="20974" y="110298"/>
                  <a:pt x="58902" y="20625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F993BB-6145-4D1C-B438-D1350312F1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216" y="2130552"/>
            <a:ext cx="4590288" cy="1764792"/>
          </a:xfrm>
        </p:spPr>
        <p:txBody>
          <a:bodyPr anchor="t">
            <a:noAutofit/>
          </a:bodyPr>
          <a:lstStyle>
            <a:lvl1pPr>
              <a:defRPr sz="5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4030515-78CF-D472-B3D6-9EE48BCA26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8598" y="3895344"/>
            <a:ext cx="4591906" cy="1024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0EBEF97-3620-43B4-9D9A-099216F753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5840" y="1316736"/>
            <a:ext cx="4325112" cy="4325112"/>
          </a:xfrm>
          <a:noFill/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96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Media Placeholder 15">
            <a:extLst>
              <a:ext uri="{FF2B5EF4-FFF2-40B4-BE49-F238E27FC236}">
                <a16:creationId xmlns:a16="http://schemas.microsoft.com/office/drawing/2014/main" id="{0D165AF2-A462-FCF3-81AE-ADB955740CCB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640080" y="1847088"/>
            <a:ext cx="7424928" cy="3776472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5CA8910C-D8ED-5254-9603-C499A3F69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483077" y="1921304"/>
            <a:ext cx="5708922" cy="4941678"/>
          </a:xfrm>
          <a:custGeom>
            <a:avLst/>
            <a:gdLst>
              <a:gd name="connsiteX0" fmla="*/ 2681883 w 4953666"/>
              <a:gd name="connsiteY0" fmla="*/ 4293658 h 4294315"/>
              <a:gd name="connsiteX1" fmla="*/ 2962801 w 4953666"/>
              <a:gd name="connsiteY1" fmla="*/ 4285537 h 4294315"/>
              <a:gd name="connsiteX2" fmla="*/ 4834127 w 4953666"/>
              <a:gd name="connsiteY2" fmla="*/ 3330444 h 4294315"/>
              <a:gd name="connsiteX3" fmla="*/ 4953666 w 4953666"/>
              <a:gd name="connsiteY3" fmla="*/ 3175947 h 4294315"/>
              <a:gd name="connsiteX4" fmla="*/ 4953666 w 4953666"/>
              <a:gd name="connsiteY4" fmla="*/ 0 h 4294315"/>
              <a:gd name="connsiteX5" fmla="*/ 481203 w 4953666"/>
              <a:gd name="connsiteY5" fmla="*/ 0 h 4294315"/>
              <a:gd name="connsiteX6" fmla="*/ 354529 w 4953666"/>
              <a:gd name="connsiteY6" fmla="*/ 200752 h 4294315"/>
              <a:gd name="connsiteX7" fmla="*/ 8771 w 4953666"/>
              <a:gd name="connsiteY7" fmla="*/ 1767440 h 4294315"/>
              <a:gd name="connsiteX8" fmla="*/ 2681883 w 4953666"/>
              <a:gd name="connsiteY8" fmla="*/ 4293658 h 4294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3666" h="4294315">
                <a:moveTo>
                  <a:pt x="2681883" y="4293658"/>
                </a:moveTo>
                <a:cubicBezTo>
                  <a:pt x="2774620" y="4295683"/>
                  <a:pt x="2868342" y="4293047"/>
                  <a:pt x="2962801" y="4285537"/>
                </a:cubicBezTo>
                <a:cubicBezTo>
                  <a:pt x="3718476" y="4225460"/>
                  <a:pt x="4378268" y="3864871"/>
                  <a:pt x="4834127" y="3330444"/>
                </a:cubicBezTo>
                <a:lnTo>
                  <a:pt x="4953666" y="3175947"/>
                </a:lnTo>
                <a:lnTo>
                  <a:pt x="4953666" y="0"/>
                </a:lnTo>
                <a:lnTo>
                  <a:pt x="481203" y="0"/>
                </a:lnTo>
                <a:lnTo>
                  <a:pt x="354529" y="200752"/>
                </a:lnTo>
                <a:cubicBezTo>
                  <a:pt x="94175" y="660824"/>
                  <a:pt x="-36273" y="1200867"/>
                  <a:pt x="8771" y="1767440"/>
                </a:cubicBezTo>
                <a:cubicBezTo>
                  <a:pt x="121380" y="3183873"/>
                  <a:pt x="1290828" y="4263270"/>
                  <a:pt x="2681883" y="429365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0FCE207E-49DC-89F0-6C2E-AEDEB1A6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01466" y="1425943"/>
            <a:ext cx="990534" cy="1329158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12480" y="2715768"/>
            <a:ext cx="3364992" cy="301752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919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  <p15:guide id="3" orient="horz" pos="355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rm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D76C9A2-7310-AC9A-D74B-465F4A04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2029" y="3432619"/>
            <a:ext cx="3586781" cy="3425381"/>
          </a:xfrm>
          <a:custGeom>
            <a:avLst/>
            <a:gdLst>
              <a:gd name="connsiteX0" fmla="*/ 2057400 w 3586781"/>
              <a:gd name="connsiteY0" fmla="*/ 0 h 3425381"/>
              <a:gd name="connsiteX1" fmla="*/ 3512202 w 3586781"/>
              <a:gd name="connsiteY1" fmla="*/ 602599 h 3425381"/>
              <a:gd name="connsiteX2" fmla="*/ 3586781 w 3586781"/>
              <a:gd name="connsiteY2" fmla="*/ 684657 h 3425381"/>
              <a:gd name="connsiteX3" fmla="*/ 3586781 w 3586781"/>
              <a:gd name="connsiteY3" fmla="*/ 3425381 h 3425381"/>
              <a:gd name="connsiteX4" fmla="*/ 523691 w 3586781"/>
              <a:gd name="connsiteY4" fmla="*/ 3425381 h 3425381"/>
              <a:gd name="connsiteX5" fmla="*/ 469810 w 3586781"/>
              <a:gd name="connsiteY5" fmla="*/ 3366098 h 3425381"/>
              <a:gd name="connsiteX6" fmla="*/ 0 w 3586781"/>
              <a:gd name="connsiteY6" fmla="*/ 2057400 h 3425381"/>
              <a:gd name="connsiteX7" fmla="*/ 2057400 w 3586781"/>
              <a:gd name="connsiteY7" fmla="*/ 0 h 34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6781" h="3425381">
                <a:moveTo>
                  <a:pt x="2057400" y="0"/>
                </a:moveTo>
                <a:cubicBezTo>
                  <a:pt x="2625535" y="0"/>
                  <a:pt x="3139885" y="230282"/>
                  <a:pt x="3512202" y="602599"/>
                </a:cubicBezTo>
                <a:lnTo>
                  <a:pt x="3586781" y="684657"/>
                </a:lnTo>
                <a:lnTo>
                  <a:pt x="3586781" y="3425381"/>
                </a:lnTo>
                <a:lnTo>
                  <a:pt x="523691" y="3425381"/>
                </a:lnTo>
                <a:lnTo>
                  <a:pt x="469810" y="3366098"/>
                </a:lnTo>
                <a:cubicBezTo>
                  <a:pt x="176310" y="3010458"/>
                  <a:pt x="0" y="2554519"/>
                  <a:pt x="0" y="2057400"/>
                </a:cubicBezTo>
                <a:cubicBezTo>
                  <a:pt x="0" y="921129"/>
                  <a:pt x="921129" y="0"/>
                  <a:pt x="2057400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622" y="1953365"/>
            <a:ext cx="5149695" cy="368455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B05A4D-E9FB-4913-E53E-1DE2DC2D9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58269" y="6194361"/>
            <a:ext cx="389835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">
            <a:extLst>
              <a:ext uri="{FF2B5EF4-FFF2-40B4-BE49-F238E27FC236}">
                <a16:creationId xmlns:a16="http://schemas.microsoft.com/office/drawing/2014/main" id="{CC1FF5F2-E394-6897-C493-6584D74D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46860" y="-169312"/>
            <a:ext cx="990534" cy="1329158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A8D9022-B854-F233-7BEE-8185E402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3700" y="2891437"/>
            <a:ext cx="4183547" cy="2282229"/>
            <a:chOff x="6448201" y="2832180"/>
            <a:chExt cx="4483608" cy="213969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59528-99D6-5A0F-AEFA-AC4E7BC126D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5AD794-5E76-98BF-3FC7-85579E09136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EDD1146-913C-8E63-E619-A08A11AAF125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43E402-60F2-D003-3878-233462D26AA9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0478807-656D-4B2C-5C1E-4A08154F6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824131" y="2343177"/>
            <a:ext cx="476768" cy="28304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528" y="2454311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4528" y="3222369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4528" y="3992637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4528" y="4775296"/>
            <a:ext cx="4557428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37376" y="2002536"/>
            <a:ext cx="5120640" cy="368503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6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5AC3F0E-B550-5DF3-6FEE-B1EFAC15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2727" y="3014462"/>
            <a:ext cx="642974" cy="642974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7">
            <a:extLst>
              <a:ext uri="{FF2B5EF4-FFF2-40B4-BE49-F238E27FC236}">
                <a16:creationId xmlns:a16="http://schemas.microsoft.com/office/drawing/2014/main" id="{4B8B6206-1D28-8534-BE4D-6893F8FE6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84620" y="5988532"/>
            <a:ext cx="2953834" cy="883756"/>
          </a:xfrm>
          <a:custGeom>
            <a:avLst/>
            <a:gdLst>
              <a:gd name="connsiteX0" fmla="*/ 1476917 w 2953834"/>
              <a:gd name="connsiteY0" fmla="*/ 0 h 883756"/>
              <a:gd name="connsiteX1" fmla="*/ 2950639 w 2953834"/>
              <a:gd name="connsiteY1" fmla="*/ 877123 h 883756"/>
              <a:gd name="connsiteX2" fmla="*/ 2953834 w 2953834"/>
              <a:gd name="connsiteY2" fmla="*/ 883756 h 883756"/>
              <a:gd name="connsiteX3" fmla="*/ 0 w 2953834"/>
              <a:gd name="connsiteY3" fmla="*/ 883756 h 883756"/>
              <a:gd name="connsiteX4" fmla="*/ 3195 w 2953834"/>
              <a:gd name="connsiteY4" fmla="*/ 877123 h 883756"/>
              <a:gd name="connsiteX5" fmla="*/ 1476917 w 2953834"/>
              <a:gd name="connsiteY5" fmla="*/ 0 h 88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3834" h="883756">
                <a:moveTo>
                  <a:pt x="1476917" y="0"/>
                </a:moveTo>
                <a:cubicBezTo>
                  <a:pt x="2113290" y="0"/>
                  <a:pt x="2666825" y="354669"/>
                  <a:pt x="2950639" y="877123"/>
                </a:cubicBezTo>
                <a:lnTo>
                  <a:pt x="2953834" y="883756"/>
                </a:lnTo>
                <a:lnTo>
                  <a:pt x="0" y="883756"/>
                </a:lnTo>
                <a:lnTo>
                  <a:pt x="3195" y="877123"/>
                </a:lnTo>
                <a:cubicBezTo>
                  <a:pt x="287009" y="354669"/>
                  <a:pt x="840544" y="0"/>
                  <a:pt x="147691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5405D2-9527-BA12-A7AC-4B93151CC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84620" y="6069965"/>
            <a:ext cx="510053" cy="510053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A0CC5EDC-49D4-6111-36CB-3C8A2D02A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306096" cy="5630799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" y="2002536"/>
            <a:ext cx="5138928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37376" y="2002536"/>
            <a:ext cx="5120640" cy="3685032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22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4">
            <a:extLst>
              <a:ext uri="{FF2B5EF4-FFF2-40B4-BE49-F238E27FC236}">
                <a16:creationId xmlns:a16="http://schemas.microsoft.com/office/drawing/2014/main" id="{82D433C4-79DD-42C5-9147-9E5DDECB6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4421" y="1377730"/>
            <a:ext cx="3658597" cy="5494558"/>
          </a:xfrm>
          <a:custGeom>
            <a:avLst/>
            <a:gdLst>
              <a:gd name="connsiteX0" fmla="*/ 3224347 w 3658597"/>
              <a:gd name="connsiteY0" fmla="*/ 0 h 5494558"/>
              <a:gd name="connsiteX1" fmla="*/ 3554018 w 3658597"/>
              <a:gd name="connsiteY1" fmla="*/ 16647 h 5494558"/>
              <a:gd name="connsiteX2" fmla="*/ 3658597 w 3658597"/>
              <a:gd name="connsiteY2" fmla="*/ 29936 h 5494558"/>
              <a:gd name="connsiteX3" fmla="*/ 3658597 w 3658597"/>
              <a:gd name="connsiteY3" fmla="*/ 5494558 h 5494558"/>
              <a:gd name="connsiteX4" fmla="*/ 935531 w 3658597"/>
              <a:gd name="connsiteY4" fmla="*/ 5494558 h 5494558"/>
              <a:gd name="connsiteX5" fmla="*/ 736284 w 3658597"/>
              <a:gd name="connsiteY5" fmla="*/ 5275331 h 5494558"/>
              <a:gd name="connsiteX6" fmla="*/ 0 w 3658597"/>
              <a:gd name="connsiteY6" fmla="*/ 3224347 h 5494558"/>
              <a:gd name="connsiteX7" fmla="*/ 3224347 w 3658597"/>
              <a:gd name="connsiteY7" fmla="*/ 0 h 549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8597" h="5494558">
                <a:moveTo>
                  <a:pt x="3224347" y="0"/>
                </a:moveTo>
                <a:cubicBezTo>
                  <a:pt x="3335644" y="0"/>
                  <a:pt x="3445625" y="5639"/>
                  <a:pt x="3554018" y="16647"/>
                </a:cubicBezTo>
                <a:lnTo>
                  <a:pt x="3658597" y="29936"/>
                </a:lnTo>
                <a:lnTo>
                  <a:pt x="3658597" y="5494558"/>
                </a:lnTo>
                <a:lnTo>
                  <a:pt x="935531" y="5494558"/>
                </a:lnTo>
                <a:lnTo>
                  <a:pt x="736284" y="5275331"/>
                </a:lnTo>
                <a:cubicBezTo>
                  <a:pt x="276312" y="4717974"/>
                  <a:pt x="0" y="4003429"/>
                  <a:pt x="0" y="3224347"/>
                </a:cubicBezTo>
                <a:cubicBezTo>
                  <a:pt x="0" y="1443589"/>
                  <a:pt x="1443589" y="0"/>
                  <a:pt x="322434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B6078FDE-6CEC-993E-3339-544DEDA6A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1551" y="0"/>
            <a:ext cx="1175601" cy="1651285"/>
          </a:xfrm>
          <a:custGeom>
            <a:avLst/>
            <a:gdLst>
              <a:gd name="connsiteX0" fmla="*/ 0 w 1858209"/>
              <a:gd name="connsiteY0" fmla="*/ 0 h 2610096"/>
              <a:gd name="connsiteX1" fmla="*/ 1532533 w 1858209"/>
              <a:gd name="connsiteY1" fmla="*/ 0 h 2610096"/>
              <a:gd name="connsiteX2" fmla="*/ 1579125 w 1858209"/>
              <a:gd name="connsiteY2" fmla="*/ 62307 h 2610096"/>
              <a:gd name="connsiteX3" fmla="*/ 1858209 w 1858209"/>
              <a:gd name="connsiteY3" fmla="*/ 975965 h 2610096"/>
              <a:gd name="connsiteX4" fmla="*/ 224078 w 1858209"/>
              <a:gd name="connsiteY4" fmla="*/ 2610096 h 2610096"/>
              <a:gd name="connsiteX5" fmla="*/ 56998 w 1858209"/>
              <a:gd name="connsiteY5" fmla="*/ 2601659 h 2610096"/>
              <a:gd name="connsiteX6" fmla="*/ 0 w 1858209"/>
              <a:gd name="connsiteY6" fmla="*/ 2592960 h 2610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209" h="2610096">
                <a:moveTo>
                  <a:pt x="0" y="0"/>
                </a:moveTo>
                <a:lnTo>
                  <a:pt x="1532533" y="0"/>
                </a:lnTo>
                <a:lnTo>
                  <a:pt x="1579125" y="62307"/>
                </a:lnTo>
                <a:cubicBezTo>
                  <a:pt x="1755324" y="323116"/>
                  <a:pt x="1858209" y="637525"/>
                  <a:pt x="1858209" y="975965"/>
                </a:cubicBezTo>
                <a:cubicBezTo>
                  <a:pt x="1858209" y="1878471"/>
                  <a:pt x="1126584" y="2610096"/>
                  <a:pt x="224078" y="2610096"/>
                </a:cubicBezTo>
                <a:cubicBezTo>
                  <a:pt x="167671" y="2610096"/>
                  <a:pt x="111932" y="2607238"/>
                  <a:pt x="56998" y="2601659"/>
                </a:cubicBezTo>
                <a:lnTo>
                  <a:pt x="0" y="259296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6A9E29-841B-F63A-A4FB-958C2A39A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97386" y="4880996"/>
            <a:ext cx="1499065" cy="1499065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1E8E1F-3A86-62FC-58AB-E196456B4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1124" y="1169282"/>
            <a:ext cx="389835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" y="2002536"/>
            <a:ext cx="5138928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2002536"/>
            <a:ext cx="5138928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6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  <a:defRPr sz="16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544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EA15E1F6-FCC0-B1B8-8F0A-02FAAB3F0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65453" y="5422957"/>
            <a:ext cx="600979" cy="600979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8A0AB697-65DD-D82E-FD2B-BB10E141E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84941"/>
            <a:ext cx="5739305" cy="6173059"/>
          </a:xfrm>
          <a:custGeom>
            <a:avLst/>
            <a:gdLst>
              <a:gd name="connsiteX0" fmla="*/ 2105216 w 5739305"/>
              <a:gd name="connsiteY0" fmla="*/ 0 h 6173059"/>
              <a:gd name="connsiteX1" fmla="*/ 5739305 w 5739305"/>
              <a:gd name="connsiteY1" fmla="*/ 3634089 h 6173059"/>
              <a:gd name="connsiteX2" fmla="*/ 4909456 w 5739305"/>
              <a:gd name="connsiteY2" fmla="*/ 5945707 h 6173059"/>
              <a:gd name="connsiteX3" fmla="*/ 4702825 w 5739305"/>
              <a:gd name="connsiteY3" fmla="*/ 6173059 h 6173059"/>
              <a:gd name="connsiteX4" fmla="*/ 0 w 5739305"/>
              <a:gd name="connsiteY4" fmla="*/ 6173059 h 6173059"/>
              <a:gd name="connsiteX5" fmla="*/ 0 w 5739305"/>
              <a:gd name="connsiteY5" fmla="*/ 675505 h 6173059"/>
              <a:gd name="connsiteX6" fmla="*/ 73362 w 5739305"/>
              <a:gd name="connsiteY6" fmla="*/ 620646 h 6173059"/>
              <a:gd name="connsiteX7" fmla="*/ 2105216 w 5739305"/>
              <a:gd name="connsiteY7" fmla="*/ 0 h 617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39305" h="6173059">
                <a:moveTo>
                  <a:pt x="2105216" y="0"/>
                </a:moveTo>
                <a:cubicBezTo>
                  <a:pt x="4112268" y="0"/>
                  <a:pt x="5739305" y="1627037"/>
                  <a:pt x="5739305" y="3634089"/>
                </a:cubicBezTo>
                <a:cubicBezTo>
                  <a:pt x="5739305" y="4512174"/>
                  <a:pt x="5427880" y="5317522"/>
                  <a:pt x="4909456" y="5945707"/>
                </a:cubicBezTo>
                <a:lnTo>
                  <a:pt x="4702825" y="6173059"/>
                </a:lnTo>
                <a:lnTo>
                  <a:pt x="0" y="6173059"/>
                </a:lnTo>
                <a:lnTo>
                  <a:pt x="0" y="675505"/>
                </a:lnTo>
                <a:lnTo>
                  <a:pt x="73362" y="620646"/>
                </a:lnTo>
                <a:cubicBezTo>
                  <a:pt x="653367" y="228802"/>
                  <a:pt x="1352572" y="0"/>
                  <a:pt x="210521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DF637CE-F1AA-EB3D-67EB-815F56FF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00869" y="447695"/>
            <a:ext cx="1499065" cy="1499065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386" y="1273861"/>
            <a:ext cx="5149695" cy="426405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3D01B9-382B-1FFC-B0E8-50A5B1AA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155536" y="2000952"/>
            <a:ext cx="3844355" cy="3094988"/>
            <a:chOff x="6448201" y="2832180"/>
            <a:chExt cx="4489704" cy="290169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DE06067-B8E1-70ED-D2D3-44CF8CDCDA07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30DAD0A-6F95-3AC2-7012-1BFF86880C36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8BE1B0-4E81-D3BC-6252-7981ADD19C22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02BDCE-1B33-A927-9656-8B1F13D3E546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E0822DF-56EF-F16B-1D58-9C3EAC7944A0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93" y="5733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0A54A3-3D1B-FF08-2460-114DA5BF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812124" y="1474457"/>
            <a:ext cx="493649" cy="40656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5.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55536" y="1605845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5536" y="2373903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55536" y="3144171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5536" y="3926830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6FF71D66-09F6-C545-173C-E4918A91F0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55536" y="4693042"/>
            <a:ext cx="4090669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49D04-3BCD-7CCF-7AE2-41C646366DF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rot="16200000">
            <a:off x="10403704" y="596187"/>
            <a:ext cx="2384490" cy="119210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63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2">
            <a:extLst>
              <a:ext uri="{FF2B5EF4-FFF2-40B4-BE49-F238E27FC236}">
                <a16:creationId xmlns:a16="http://schemas.microsoft.com/office/drawing/2014/main" id="{CCB0938D-C7B4-782B-BFAF-F503DE1CA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4287" y="4334114"/>
            <a:ext cx="1149441" cy="1499066"/>
          </a:xfrm>
          <a:custGeom>
            <a:avLst/>
            <a:gdLst>
              <a:gd name="connsiteX0" fmla="*/ 399908 w 1149441"/>
              <a:gd name="connsiteY0" fmla="*/ 0 h 1499066"/>
              <a:gd name="connsiteX1" fmla="*/ 1149441 w 1149441"/>
              <a:gd name="connsiteY1" fmla="*/ 749533 h 1499066"/>
              <a:gd name="connsiteX2" fmla="*/ 399908 w 1149441"/>
              <a:gd name="connsiteY2" fmla="*/ 1499066 h 1499066"/>
              <a:gd name="connsiteX3" fmla="*/ 108156 w 1149441"/>
              <a:gd name="connsiteY3" fmla="*/ 1440164 h 1499066"/>
              <a:gd name="connsiteX4" fmla="*/ 0 w 1149441"/>
              <a:gd name="connsiteY4" fmla="*/ 1381459 h 1499066"/>
              <a:gd name="connsiteX5" fmla="*/ 0 w 1149441"/>
              <a:gd name="connsiteY5" fmla="*/ 117607 h 1499066"/>
              <a:gd name="connsiteX6" fmla="*/ 108156 w 1149441"/>
              <a:gd name="connsiteY6" fmla="*/ 58902 h 1499066"/>
              <a:gd name="connsiteX7" fmla="*/ 399908 w 1149441"/>
              <a:gd name="connsiteY7" fmla="*/ 0 h 1499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9441" h="1499066">
                <a:moveTo>
                  <a:pt x="399908" y="0"/>
                </a:moveTo>
                <a:cubicBezTo>
                  <a:pt x="813864" y="0"/>
                  <a:pt x="1149441" y="335577"/>
                  <a:pt x="1149441" y="749533"/>
                </a:cubicBezTo>
                <a:cubicBezTo>
                  <a:pt x="1149441" y="1163489"/>
                  <a:pt x="813864" y="1499066"/>
                  <a:pt x="399908" y="1499066"/>
                </a:cubicBezTo>
                <a:cubicBezTo>
                  <a:pt x="296419" y="1499066"/>
                  <a:pt x="197829" y="1478093"/>
                  <a:pt x="108156" y="1440164"/>
                </a:cubicBezTo>
                <a:lnTo>
                  <a:pt x="0" y="1381459"/>
                </a:lnTo>
                <a:lnTo>
                  <a:pt x="0" y="117607"/>
                </a:lnTo>
                <a:lnTo>
                  <a:pt x="108156" y="58902"/>
                </a:lnTo>
                <a:cubicBezTo>
                  <a:pt x="197829" y="20974"/>
                  <a:pt x="296419" y="0"/>
                  <a:pt x="399908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9">
            <a:extLst>
              <a:ext uri="{FF2B5EF4-FFF2-40B4-BE49-F238E27FC236}">
                <a16:creationId xmlns:a16="http://schemas.microsoft.com/office/drawing/2014/main" id="{27AD3143-C49E-0951-0DB8-A9ABF0AB7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18661" y="-1535"/>
            <a:ext cx="6184356" cy="5906209"/>
          </a:xfrm>
          <a:custGeom>
            <a:avLst/>
            <a:gdLst>
              <a:gd name="connsiteX0" fmla="*/ 605352 w 6184356"/>
              <a:gd name="connsiteY0" fmla="*/ 0 h 5906209"/>
              <a:gd name="connsiteX1" fmla="*/ 6184356 w 6184356"/>
              <a:gd name="connsiteY1" fmla="*/ 0 h 5906209"/>
              <a:gd name="connsiteX2" fmla="*/ 6184356 w 6184356"/>
              <a:gd name="connsiteY2" fmla="*/ 5104584 h 5906209"/>
              <a:gd name="connsiteX3" fmla="*/ 5989771 w 6184356"/>
              <a:gd name="connsiteY3" fmla="*/ 5250092 h 5906209"/>
              <a:gd name="connsiteX4" fmla="*/ 3841790 w 6184356"/>
              <a:gd name="connsiteY4" fmla="*/ 5906209 h 5906209"/>
              <a:gd name="connsiteX5" fmla="*/ 0 w 6184356"/>
              <a:gd name="connsiteY5" fmla="*/ 2064419 h 5906209"/>
              <a:gd name="connsiteX6" fmla="*/ 463684 w 6184356"/>
              <a:gd name="connsiteY6" fmla="*/ 233194 h 590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4356" h="5906209">
                <a:moveTo>
                  <a:pt x="605352" y="0"/>
                </a:moveTo>
                <a:lnTo>
                  <a:pt x="6184356" y="0"/>
                </a:lnTo>
                <a:lnTo>
                  <a:pt x="6184356" y="5104584"/>
                </a:lnTo>
                <a:lnTo>
                  <a:pt x="5989771" y="5250092"/>
                </a:lnTo>
                <a:cubicBezTo>
                  <a:pt x="5376618" y="5664330"/>
                  <a:pt x="4637451" y="5906209"/>
                  <a:pt x="3841790" y="5906209"/>
                </a:cubicBezTo>
                <a:cubicBezTo>
                  <a:pt x="1720028" y="5906209"/>
                  <a:pt x="0" y="4186181"/>
                  <a:pt x="0" y="2064419"/>
                </a:cubicBezTo>
                <a:cubicBezTo>
                  <a:pt x="0" y="1401369"/>
                  <a:pt x="167972" y="777550"/>
                  <a:pt x="463684" y="23319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F142C3-F309-0D74-D5C5-3EAB19D43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89666" y="1067784"/>
            <a:ext cx="635955" cy="63595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90AB7A2-D41E-7F8C-E35B-D135E2EFA5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V="1">
            <a:off x="2963611" y="-9427"/>
            <a:ext cx="2384497" cy="118100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1280160"/>
            <a:ext cx="5129784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7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444D42C-1BDD-684F-2ED7-CBF2B31FA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1017"/>
            <a:ext cx="5797960" cy="5177077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266F6B-F29A-5957-62EB-27F8C2FA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82616" y="378865"/>
            <a:ext cx="813384" cy="813384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AC709F-F9A3-D8F0-A42E-A2C94191D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75619" y="5909834"/>
            <a:ext cx="397747" cy="397747"/>
          </a:xfrm>
          <a:prstGeom prst="ellipse">
            <a:avLst/>
          </a:prstGeom>
          <a:solidFill>
            <a:schemeClr val="accent6">
              <a:alpha val="3033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1280160"/>
            <a:ext cx="5129784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Footer Placeholder 18">
            <a:extLst>
              <a:ext uri="{FF2B5EF4-FFF2-40B4-BE49-F238E27FC236}">
                <a16:creationId xmlns:a16="http://schemas.microsoft.com/office/drawing/2014/main" id="{3914E26B-E8E4-55F2-CC5E-DD0D0AD5C8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39496" y="612648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E2D1E-4C5D-A613-CB40-98902C0D83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63206" y="5671159"/>
            <a:ext cx="2384497" cy="118684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19">
            <a:extLst>
              <a:ext uri="{FF2B5EF4-FFF2-40B4-BE49-F238E27FC236}">
                <a16:creationId xmlns:a16="http://schemas.microsoft.com/office/drawing/2014/main" id="{294A49EB-EEA6-1B79-F5DE-CFBFC6FFA2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93690" y="6190487"/>
            <a:ext cx="846621" cy="365760"/>
          </a:xfrm>
        </p:spPr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03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34171" y="2087276"/>
            <a:ext cx="3262907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0"/>
            <a:ext cx="1824598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65666" y="5908181"/>
            <a:ext cx="3046380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948393"/>
            <a:ext cx="420622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386584"/>
            <a:ext cx="4837176" cy="2103120"/>
          </a:xfrm>
        </p:spPr>
        <p:txBody>
          <a:bodyPr anchor="t" anchorCtr="0">
            <a:normAutofit/>
          </a:bodyPr>
          <a:lstStyle>
            <a:lvl1pPr algn="l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1280160"/>
            <a:ext cx="5129784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744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id="{B016AB6E-3D8A-906E-416F-9B68623EA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2398" y="4482109"/>
            <a:ext cx="5279603" cy="2386909"/>
          </a:xfrm>
          <a:custGeom>
            <a:avLst/>
            <a:gdLst>
              <a:gd name="connsiteX0" fmla="*/ 3601541 w 5279603"/>
              <a:gd name="connsiteY0" fmla="*/ 0 h 2386909"/>
              <a:gd name="connsiteX1" fmla="*/ 5123083 w 5279603"/>
              <a:gd name="connsiteY1" fmla="*/ 307185 h 2386909"/>
              <a:gd name="connsiteX2" fmla="*/ 5279603 w 5279603"/>
              <a:gd name="connsiteY2" fmla="*/ 377947 h 2386909"/>
              <a:gd name="connsiteX3" fmla="*/ 5279603 w 5279603"/>
              <a:gd name="connsiteY3" fmla="*/ 2386909 h 2386909"/>
              <a:gd name="connsiteX4" fmla="*/ 0 w 5279603"/>
              <a:gd name="connsiteY4" fmla="*/ 2386909 h 2386909"/>
              <a:gd name="connsiteX5" fmla="*/ 78053 w 5279603"/>
              <a:gd name="connsiteY5" fmla="*/ 2214261 h 2386909"/>
              <a:gd name="connsiteX6" fmla="*/ 3601541 w 5279603"/>
              <a:gd name="connsiteY6" fmla="*/ 0 h 238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79603" h="2386909">
                <a:moveTo>
                  <a:pt x="3601541" y="0"/>
                </a:moveTo>
                <a:cubicBezTo>
                  <a:pt x="4141255" y="0"/>
                  <a:pt x="4655422" y="109382"/>
                  <a:pt x="5123083" y="307185"/>
                </a:cubicBezTo>
                <a:lnTo>
                  <a:pt x="5279603" y="377947"/>
                </a:lnTo>
                <a:lnTo>
                  <a:pt x="5279603" y="2386909"/>
                </a:lnTo>
                <a:lnTo>
                  <a:pt x="0" y="2386909"/>
                </a:lnTo>
                <a:lnTo>
                  <a:pt x="78053" y="2214261"/>
                </a:lnTo>
                <a:cubicBezTo>
                  <a:pt x="709351" y="904104"/>
                  <a:pt x="2049863" y="0"/>
                  <a:pt x="3601541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471EA21E-8904-9B80-6EAB-BA76819B4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88287" y="5875583"/>
            <a:ext cx="1499066" cy="993434"/>
          </a:xfrm>
          <a:custGeom>
            <a:avLst/>
            <a:gdLst>
              <a:gd name="connsiteX0" fmla="*/ 749533 w 1499066"/>
              <a:gd name="connsiteY0" fmla="*/ 0 h 993434"/>
              <a:gd name="connsiteX1" fmla="*/ 1499066 w 1499066"/>
              <a:gd name="connsiteY1" fmla="*/ 749533 h 993434"/>
              <a:gd name="connsiteX2" fmla="*/ 1483838 w 1499066"/>
              <a:gd name="connsiteY2" fmla="*/ 900590 h 993434"/>
              <a:gd name="connsiteX3" fmla="*/ 1455018 w 1499066"/>
              <a:gd name="connsiteY3" fmla="*/ 993434 h 993434"/>
              <a:gd name="connsiteX4" fmla="*/ 44048 w 1499066"/>
              <a:gd name="connsiteY4" fmla="*/ 993434 h 993434"/>
              <a:gd name="connsiteX5" fmla="*/ 15228 w 1499066"/>
              <a:gd name="connsiteY5" fmla="*/ 900590 h 993434"/>
              <a:gd name="connsiteX6" fmla="*/ 0 w 1499066"/>
              <a:gd name="connsiteY6" fmla="*/ 749533 h 993434"/>
              <a:gd name="connsiteX7" fmla="*/ 749533 w 1499066"/>
              <a:gd name="connsiteY7" fmla="*/ 0 h 99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9066" h="993434">
                <a:moveTo>
                  <a:pt x="749533" y="0"/>
                </a:moveTo>
                <a:cubicBezTo>
                  <a:pt x="1163489" y="0"/>
                  <a:pt x="1499066" y="335577"/>
                  <a:pt x="1499066" y="749533"/>
                </a:cubicBezTo>
                <a:cubicBezTo>
                  <a:pt x="1499066" y="801278"/>
                  <a:pt x="1493823" y="851798"/>
                  <a:pt x="1483838" y="900590"/>
                </a:cubicBezTo>
                <a:lnTo>
                  <a:pt x="1455018" y="993434"/>
                </a:lnTo>
                <a:lnTo>
                  <a:pt x="44048" y="993434"/>
                </a:lnTo>
                <a:lnTo>
                  <a:pt x="15228" y="900590"/>
                </a:lnTo>
                <a:cubicBezTo>
                  <a:pt x="5244" y="851798"/>
                  <a:pt x="0" y="801278"/>
                  <a:pt x="0" y="749533"/>
                </a:cubicBezTo>
                <a:cubicBezTo>
                  <a:pt x="0" y="335577"/>
                  <a:pt x="335577" y="0"/>
                  <a:pt x="749533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" y="2002536"/>
            <a:ext cx="50292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19088" y="2002536"/>
            <a:ext cx="50292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CB50393-ACAA-59FB-EDD9-D6A45246E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5824445"/>
            <a:ext cx="735041" cy="7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7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34171" y="2087276"/>
            <a:ext cx="3262907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0"/>
            <a:ext cx="1824598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65666" y="5908181"/>
            <a:ext cx="3046380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948393"/>
            <a:ext cx="420622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5760B73-B111-FFDC-8074-91B4C106E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208" y="566928"/>
            <a:ext cx="11119104" cy="640080"/>
          </a:xfrm>
        </p:spPr>
        <p:txBody>
          <a:bodyPr anchor="t" anchorCtr="0">
            <a:noAutofit/>
          </a:bodyPr>
          <a:lstStyle>
            <a:lvl1pPr algn="ctr">
              <a:defRPr sz="3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4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34171" y="2087276"/>
            <a:ext cx="3262907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0"/>
            <a:ext cx="1824598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65666" y="5908181"/>
            <a:ext cx="3046380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7021" y="948393"/>
            <a:ext cx="420622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3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>
          <p15:clr>
            <a:srgbClr val="FBAE40"/>
          </p15:clr>
        </p15:guide>
        <p15:guide id="2" pos="3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9496" y="61264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7112" y="6190487"/>
            <a:ext cx="2743200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6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9E9CFE-1820-51D6-3F5B-5FD2FCD3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603" y="160599"/>
            <a:ext cx="6222397" cy="1764792"/>
          </a:xfrm>
        </p:spPr>
        <p:txBody>
          <a:bodyPr/>
          <a:lstStyle/>
          <a:p>
            <a:r>
              <a:rPr lang="en-US" dirty="0" err="1"/>
              <a:t>ResuMe</a:t>
            </a:r>
            <a:br>
              <a:rPr lang="en-US" dirty="0"/>
            </a:br>
            <a:r>
              <a:rPr lang="en-US" sz="3600" dirty="0"/>
              <a:t>An AI-Powered Resume Builder Web Application</a:t>
            </a:r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57D62F16-F75C-6B98-2080-BECC2DE82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4539" y="4097438"/>
            <a:ext cx="4591906" cy="2599963"/>
          </a:xfrm>
        </p:spPr>
        <p:txBody>
          <a:bodyPr>
            <a:normAutofit/>
          </a:bodyPr>
          <a:lstStyle/>
          <a:p>
            <a:r>
              <a:rPr lang="en-US" dirty="0"/>
              <a:t>Developed by:</a:t>
            </a:r>
            <a:br>
              <a:rPr lang="en-US" dirty="0"/>
            </a:br>
            <a:r>
              <a:rPr lang="en-US" dirty="0"/>
              <a:t>Yash Jaiswal</a:t>
            </a:r>
            <a:br>
              <a:rPr lang="en-US" dirty="0"/>
            </a:br>
            <a:r>
              <a:rPr lang="en-US" dirty="0"/>
              <a:t>Megha Verma</a:t>
            </a:r>
            <a:br>
              <a:rPr lang="en-US" dirty="0"/>
            </a:br>
            <a:r>
              <a:rPr lang="en-US" dirty="0"/>
              <a:t>Vidushi Pandey</a:t>
            </a:r>
            <a:br>
              <a:rPr lang="en-US" dirty="0"/>
            </a:br>
            <a:r>
              <a:rPr lang="en-US" dirty="0"/>
              <a:t>Krrish Verma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B.Tech</a:t>
            </a:r>
            <a:r>
              <a:rPr lang="en-US" dirty="0"/>
              <a:t> – CSE-R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8F9153-A677-9C5E-5A84-3B1BBCCFB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08" y="405114"/>
            <a:ext cx="5788095" cy="57178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9875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B4E94-4267-7116-D6DF-9C007624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276246"/>
            <a:ext cx="11119104" cy="64008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3591E-8E05-0381-BA43-3436D38DC8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sz="1800" dirty="0"/>
              <a:t>Create resumes easily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1167D-285D-8CF5-F2C6-746FF88D69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800" dirty="0"/>
              <a:t>Enter personal and professional details</a:t>
            </a:r>
            <a:endParaRPr lang="en-IN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DAD45-0CD6-62ED-A6CC-D9F490A089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1800" dirty="0"/>
              <a:t>Generate a well-structured resume format</a:t>
            </a:r>
            <a:endParaRPr lang="en-IN" sz="1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59E9A-7EC8-ECFA-2240-1A0480E7F4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sz="1800" dirty="0"/>
              <a:t>Use your personalized resume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B8836E-C4B0-417D-4749-31270C3C2C84}"/>
              </a:ext>
            </a:extLst>
          </p:cNvPr>
          <p:cNvSpPr txBox="1"/>
          <p:nvPr/>
        </p:nvSpPr>
        <p:spPr>
          <a:xfrm>
            <a:off x="740664" y="961478"/>
            <a:ext cx="11119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Creating a professional resume is important for job applications. Many students struggle with formatting and design.</a:t>
            </a:r>
          </a:p>
          <a:p>
            <a:r>
              <a:rPr lang="en-US" dirty="0"/>
              <a:t>The </a:t>
            </a:r>
            <a:r>
              <a:rPr lang="en-US" b="1" dirty="0" err="1"/>
              <a:t>ResuMe</a:t>
            </a:r>
            <a:r>
              <a:rPr lang="en-US" b="1" dirty="0"/>
              <a:t> </a:t>
            </a:r>
            <a:r>
              <a:rPr lang="en-US" dirty="0"/>
              <a:t>is a web application that helps users: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0A23E2-1C60-CD27-3DAE-B22392E95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849" y="1916033"/>
            <a:ext cx="5610919" cy="356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62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FDFFFE"/>
            </a:gs>
            <a:gs pos="6500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7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0DED132-6EBC-88AD-E3AA-B781559F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4B54F97-9352-DEA1-FE53-29620009C8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sz="2100" dirty="0"/>
              <a:t>Difficulty designing resumes</a:t>
            </a:r>
            <a:endParaRPr lang="en-US" sz="210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E6F18B3-85E3-4910-12F4-C87BB92086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44527" y="3222369"/>
            <a:ext cx="4951473" cy="465373"/>
          </a:xfrm>
        </p:spPr>
        <p:txBody>
          <a:bodyPr/>
          <a:lstStyle/>
          <a:p>
            <a:r>
              <a:rPr lang="en-US" sz="2100" dirty="0"/>
              <a:t>Lack of proper formatting knowledge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125F155-59AB-D2D5-95FD-54A40AE9552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sz="2100" dirty="0"/>
              <a:t>Time-consuming manual editing</a:t>
            </a:r>
            <a:endParaRPr lang="en-US" sz="2100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B66D7E6-39E6-08F9-A719-BDDF3666C2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44527" y="4470401"/>
            <a:ext cx="4823135" cy="465373"/>
          </a:xfrm>
        </p:spPr>
        <p:txBody>
          <a:bodyPr/>
          <a:lstStyle/>
          <a:p>
            <a:r>
              <a:rPr lang="en-US" sz="2100" dirty="0"/>
              <a:t>Confusion about what information to include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D6070869-402B-F0CE-748B-0BF0AE47078C}"/>
              </a:ext>
            </a:extLst>
          </p:cNvPr>
          <p:cNvSpPr txBox="1">
            <a:spLocks/>
          </p:cNvSpPr>
          <p:nvPr/>
        </p:nvSpPr>
        <p:spPr>
          <a:xfrm>
            <a:off x="8894343" y="619436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400" smtClean="0">
                <a:solidFill>
                  <a:schemeClr val="bg2">
                    <a:lumMod val="50000"/>
                  </a:schemeClr>
                </a:solidFill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E1CF33-7794-8A9E-B84C-7CF3F7ACB459}"/>
              </a:ext>
            </a:extLst>
          </p:cNvPr>
          <p:cNvSpPr txBox="1"/>
          <p:nvPr/>
        </p:nvSpPr>
        <p:spPr>
          <a:xfrm>
            <a:off x="930442" y="1219200"/>
            <a:ext cx="1036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Many students and job seekers face problems such as:</a:t>
            </a:r>
            <a:endParaRPr lang="en-IN" sz="2800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314953A5-E0D0-91AF-AE85-3FFD230BE8C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6513" b="6513"/>
          <a:stretch/>
        </p:blipFill>
        <p:spPr>
          <a:xfrm>
            <a:off x="6437377" y="2002536"/>
            <a:ext cx="5102531" cy="36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205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E7018-1EEE-0417-FF9F-A1483594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6BA0-F7A0-B270-A945-99276D8D2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276246"/>
            <a:ext cx="11119104" cy="640080"/>
          </a:xfrm>
        </p:spPr>
        <p:txBody>
          <a:bodyPr/>
          <a:lstStyle/>
          <a:p>
            <a:r>
              <a:rPr lang="en-IN" dirty="0"/>
              <a:t>Objectives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817E9-05DD-D946-5A19-73D469C376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dirty="0"/>
              <a:t>To develop an easy-to-use resume builder</a:t>
            </a:r>
            <a:endParaRPr lang="en-IN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B53E6-07CD-8E4B-2950-2F956AA69C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44528" y="2998088"/>
            <a:ext cx="4557428" cy="477764"/>
          </a:xfrm>
        </p:spPr>
        <p:txBody>
          <a:bodyPr/>
          <a:lstStyle/>
          <a:p>
            <a:r>
              <a:rPr lang="en-US" sz="1800" dirty="0"/>
              <a:t>To allow users to enter their information in a structured format</a:t>
            </a:r>
            <a:endParaRPr lang="en-IN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7E194-4626-11F1-6DC3-DEC282A085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44528" y="3753755"/>
            <a:ext cx="4557428" cy="477764"/>
          </a:xfrm>
        </p:spPr>
        <p:txBody>
          <a:bodyPr/>
          <a:lstStyle/>
          <a:p>
            <a:r>
              <a:rPr lang="en-US" sz="1800" dirty="0"/>
              <a:t>To automatically generate a professional resume layout</a:t>
            </a:r>
            <a:endParaRPr lang="en-IN" sz="1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A98DBD-6639-841B-C51E-2DCD8F1671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44528" y="4509422"/>
            <a:ext cx="4557428" cy="477764"/>
          </a:xfrm>
        </p:spPr>
        <p:txBody>
          <a:bodyPr/>
          <a:lstStyle/>
          <a:p>
            <a:r>
              <a:rPr lang="en-US" sz="1800" dirty="0"/>
              <a:t>To simplify resume creation for students and freshers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785C2-A7AF-CA60-0EA6-62439DC3AD75}"/>
              </a:ext>
            </a:extLst>
          </p:cNvPr>
          <p:cNvSpPr txBox="1"/>
          <p:nvPr/>
        </p:nvSpPr>
        <p:spPr>
          <a:xfrm>
            <a:off x="740664" y="961478"/>
            <a:ext cx="111191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main objectives of the project are:</a:t>
            </a:r>
          </a:p>
          <a:p>
            <a:endParaRPr lang="en-IN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7C6DFA-3CA7-20D1-9E0F-6037A445C4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85"/>
          <a:stretch>
            <a:fillRect/>
          </a:stretch>
        </p:blipFill>
        <p:spPr>
          <a:xfrm>
            <a:off x="5933954" y="1972805"/>
            <a:ext cx="608056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88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FDFFFE"/>
            </a:gs>
            <a:gs pos="65000">
              <a:srgbClr val="F3FFFF"/>
            </a:gs>
            <a:gs pos="37992">
              <a:srgbClr val="FFFFFF"/>
            </a:gs>
            <a:gs pos="8000">
              <a:srgbClr val="EAFCFE"/>
            </a:gs>
          </a:gsLst>
          <a:lin ang="17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7169C0-7EAF-938E-14B7-CF06762D0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13B1F7-4040-16B1-AD32-1C8AACFFDAD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Frontend: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React: for building interactive UI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CSS: for styling and layout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Development Tools: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Visual Studio Code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Node.js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Vite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D6070869-402B-F0CE-748B-0BF0AE47078C}"/>
              </a:ext>
            </a:extLst>
          </p:cNvPr>
          <p:cNvSpPr txBox="1">
            <a:spLocks/>
          </p:cNvSpPr>
          <p:nvPr/>
        </p:nvSpPr>
        <p:spPr>
          <a:xfrm>
            <a:off x="8894343" y="619436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400" smtClean="0">
                <a:solidFill>
                  <a:schemeClr val="bg2">
                    <a:lumMod val="50000"/>
                  </a:schemeClr>
                </a:solidFill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C0144B-2099-B269-3CED-BFDC039A0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735" y="3007190"/>
            <a:ext cx="6038848" cy="202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71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7FA792-7CC8-6C5F-8E4F-307FA211B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</p:spPr>
        <p:txBody>
          <a:bodyPr>
            <a:noAutofit/>
          </a:bodyPr>
          <a:lstStyle/>
          <a:p>
            <a:r>
              <a:rPr lang="en-IN" dirty="0"/>
              <a:t>System Architecture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7B31463-876E-9A0E-6D48-11E3D92791A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/>
              <a:t>Frontend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Form to enter resume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Resume preview display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DA96EA0-CE06-486B-C27D-F700C8A4B1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19088" y="2002536"/>
            <a:ext cx="5138928" cy="368503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Backend (Future Implementation)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storage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Resume download functionality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User authentication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D6070869-402B-F0CE-748B-0BF0AE47078C}"/>
              </a:ext>
            </a:extLst>
          </p:cNvPr>
          <p:cNvSpPr txBox="1">
            <a:spLocks/>
          </p:cNvSpPr>
          <p:nvPr/>
        </p:nvSpPr>
        <p:spPr>
          <a:xfrm>
            <a:off x="8894343" y="619436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400" smtClean="0">
                <a:solidFill>
                  <a:schemeClr val="bg2">
                    <a:lumMod val="50000"/>
                  </a:schemeClr>
                </a:solidFill>
                <a:cs typeface="Segoe UI" panose="020B0502040204020203" pitchFamily="34" charset="0"/>
              </a:rPr>
              <a:pPr algn="r"/>
              <a:t>6</a:t>
            </a:fld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CDDAB-3E38-52C5-D691-DF0EB233BCE8}"/>
              </a:ext>
            </a:extLst>
          </p:cNvPr>
          <p:cNvSpPr txBox="1"/>
          <p:nvPr/>
        </p:nvSpPr>
        <p:spPr>
          <a:xfrm>
            <a:off x="1796716" y="1137239"/>
            <a:ext cx="859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The system mainly consists of two parts: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8C512-3189-ECC3-A013-23A15C77CA14}"/>
              </a:ext>
            </a:extLst>
          </p:cNvPr>
          <p:cNvSpPr txBox="1"/>
          <p:nvPr/>
        </p:nvSpPr>
        <p:spPr>
          <a:xfrm>
            <a:off x="1796716" y="5866122"/>
            <a:ext cx="8598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Currently, the frontend is implemented.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81378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8000">
              <a:srgbClr val="FDFFFE"/>
            </a:gs>
            <a:gs pos="69000">
              <a:srgbClr val="F3FFFF"/>
            </a:gs>
            <a:gs pos="39000">
              <a:srgbClr val="FFFFFF"/>
            </a:gs>
            <a:gs pos="8000">
              <a:srgbClr val="EAFCFE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4C5E7E2-8ACA-2171-0756-5D827A2D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386584"/>
            <a:ext cx="4837176" cy="2103120"/>
          </a:xfrm>
        </p:spPr>
        <p:txBody>
          <a:bodyPr>
            <a:noAutofit/>
          </a:bodyPr>
          <a:lstStyle/>
          <a:p>
            <a:r>
              <a:rPr lang="en-US" dirty="0"/>
              <a:t>Key features of the Resume Builder project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E81447B-7597-6A85-9E6F-8761AEBF9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User-friendly interface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9C914D3-5093-8564-A632-31B47AECC3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5535" y="2037308"/>
            <a:ext cx="4090669" cy="477764"/>
          </a:xfrm>
        </p:spPr>
        <p:txBody>
          <a:bodyPr/>
          <a:lstStyle/>
          <a:p>
            <a:r>
              <a:rPr lang="en-US" dirty="0"/>
              <a:t>Simple form to enter resume details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CDF77A5-E6FD-2B2D-97BD-846AFE0E2A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Real-time resume preview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E734416-63A8-FE1A-1CF3-1E035765B6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55535" y="3586179"/>
            <a:ext cx="4090669" cy="477764"/>
          </a:xfrm>
        </p:spPr>
        <p:txBody>
          <a:bodyPr/>
          <a:lstStyle/>
          <a:p>
            <a:r>
              <a:rPr lang="en-US" dirty="0"/>
              <a:t>Clean and professional resume layout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F2A682D-F730-5811-02F5-9988C3F81D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dirty="0"/>
              <a:t>Responsive design</a:t>
            </a:r>
            <a:endParaRPr lang="en-US" dirty="0"/>
          </a:p>
        </p:txBody>
      </p:sp>
      <p:pic>
        <p:nvPicPr>
          <p:cNvPr id="13" name="Picture Placeholder 10" descr="Cartoon Character">
            <a:extLst>
              <a:ext uri="{FF2B5EF4-FFF2-40B4-BE49-F238E27FC236}">
                <a16:creationId xmlns:a16="http://schemas.microsoft.com/office/drawing/2014/main" id="{1A002920-0C2E-579E-BAE1-1AFC4D578A83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8" r="108"/>
          <a:stretch/>
        </p:blipFill>
        <p:spPr>
          <a:xfrm rot="16200000">
            <a:off x="10403704" y="596187"/>
            <a:ext cx="2384490" cy="1192108"/>
          </a:xfrm>
          <a:noFill/>
          <a:effectLst>
            <a:outerShdw blurRad="66753" dist="39609" dir="12780000" sx="101109" sy="101109" algn="t" rotWithShape="0">
              <a:prstClr val="black">
                <a:alpha val="17409"/>
              </a:prstClr>
            </a:outerShdw>
          </a:effec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92514B-EA55-CDF0-51C9-C73B11745207}"/>
              </a:ext>
            </a:extLst>
          </p:cNvPr>
          <p:cNvSpPr txBox="1">
            <a:spLocks/>
          </p:cNvSpPr>
          <p:nvPr/>
        </p:nvSpPr>
        <p:spPr>
          <a:xfrm>
            <a:off x="6812124" y="1474457"/>
            <a:ext cx="4187767" cy="40656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4.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5.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9660C059-EAFF-4EED-4E6F-C1DBC4AE1157}"/>
              </a:ext>
            </a:extLst>
          </p:cNvPr>
          <p:cNvSpPr txBox="1">
            <a:spLocks/>
          </p:cNvSpPr>
          <p:nvPr/>
        </p:nvSpPr>
        <p:spPr>
          <a:xfrm>
            <a:off x="8894343" y="619436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400" smtClean="0">
                <a:solidFill>
                  <a:schemeClr val="bg2">
                    <a:lumMod val="50000"/>
                  </a:schemeClr>
                </a:solidFill>
                <a:cs typeface="Segoe UI" panose="020B0502040204020203" pitchFamily="34" charset="0"/>
              </a:rPr>
              <a:pPr algn="r"/>
              <a:t>7</a:t>
            </a:fld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650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000">
              <a:srgbClr val="FCFFFE"/>
            </a:gs>
            <a:gs pos="66020">
              <a:srgbClr val="F3FFFF"/>
            </a:gs>
            <a:gs pos="37992">
              <a:srgbClr val="FFFFFF"/>
            </a:gs>
            <a:gs pos="8000">
              <a:srgbClr val="EAFCFD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14CCEE-3485-2159-D337-16E15FAF3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386584"/>
            <a:ext cx="4837176" cy="2103120"/>
          </a:xfrm>
        </p:spPr>
        <p:txBody>
          <a:bodyPr/>
          <a:lstStyle/>
          <a:p>
            <a:r>
              <a:rPr lang="en-IN" dirty="0"/>
              <a:t>Working of the Application</a:t>
            </a:r>
            <a:endParaRPr lang="en-US" dirty="0"/>
          </a:p>
        </p:txBody>
      </p:sp>
      <p:pic>
        <p:nvPicPr>
          <p:cNvPr id="9" name="Picture Placeholder 10" descr="Cartoon Character">
            <a:extLst>
              <a:ext uri="{FF2B5EF4-FFF2-40B4-BE49-F238E27FC236}">
                <a16:creationId xmlns:a16="http://schemas.microsoft.com/office/drawing/2014/main" id="{F7B1B1A3-CBD4-86CB-273F-CF4C777C73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3" b="293"/>
          <a:stretch/>
        </p:blipFill>
        <p:spPr>
          <a:xfrm flipV="1">
            <a:off x="2963611" y="-9427"/>
            <a:ext cx="2384497" cy="1181008"/>
          </a:xfrm>
          <a:noFill/>
          <a:effectLst>
            <a:outerShdw blurRad="66753" dist="39609" dir="12780000" sx="101109" sy="101109" algn="t" rotWithShape="0">
              <a:prstClr val="black">
                <a:alpha val="17409"/>
              </a:prstClr>
            </a:outerShdw>
          </a:effectLst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0C16F51-4E7F-677E-FB3A-A201ADC124AD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dirty="0"/>
              <a:t>The working process of the application: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User opens the Resume Builder website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User enters personal details, education, skills, etc.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The system organizes the data automatically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Resume preview is generated on the screen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Final resume format is displayed</a:t>
            </a:r>
          </a:p>
          <a:p>
            <a:endParaRPr lang="en-US" sz="1800" dirty="0"/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5BA00F71-56F9-BF1B-40D8-F8B14254541B}"/>
              </a:ext>
            </a:extLst>
          </p:cNvPr>
          <p:cNvSpPr txBox="1">
            <a:spLocks/>
          </p:cNvSpPr>
          <p:nvPr/>
        </p:nvSpPr>
        <p:spPr>
          <a:xfrm>
            <a:off x="8894343" y="6194361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94A09A9-5501-47C1-A89A-A340965A2BE2}" type="slidenum">
              <a:rPr lang="en-US" sz="1400" smtClean="0">
                <a:solidFill>
                  <a:schemeClr val="bg2">
                    <a:lumMod val="50000"/>
                  </a:schemeClr>
                </a:solidFill>
                <a:cs typeface="Segoe UI" panose="020B0502040204020203" pitchFamily="34" charset="0"/>
              </a:rPr>
              <a:pPr algn="r"/>
              <a:t>8</a:t>
            </a:fld>
            <a:endParaRPr lang="en-US" sz="1400" dirty="0">
              <a:solidFill>
                <a:schemeClr val="bg2">
                  <a:lumMod val="50000"/>
                </a:schemeClr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427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000">
              <a:srgbClr val="FCFFFE"/>
            </a:gs>
            <a:gs pos="66020">
              <a:srgbClr val="F3FFFF"/>
            </a:gs>
            <a:gs pos="37992">
              <a:srgbClr val="FFFFFF"/>
            </a:gs>
            <a:gs pos="8000">
              <a:srgbClr val="EAFCFD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3ABAE01-492C-66AE-B44A-4212DCA5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386584"/>
            <a:ext cx="4837176" cy="2103120"/>
          </a:xfrm>
        </p:spPr>
        <p:txBody>
          <a:bodyPr/>
          <a:lstStyle/>
          <a:p>
            <a:r>
              <a:rPr lang="en-IN" dirty="0"/>
              <a:t>Implementation (Frontend)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183DD7D-43BE-75A9-8C5B-3C658846FAF9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 dirty="0"/>
              <a:t>The frontend of the application is built using </a:t>
            </a:r>
            <a:r>
              <a:rPr lang="en-US" b="1" dirty="0"/>
              <a:t>React components</a:t>
            </a:r>
            <a:r>
              <a:rPr lang="en-US" dirty="0"/>
              <a:t>.</a:t>
            </a:r>
          </a:p>
          <a:p>
            <a:r>
              <a:rPr lang="en-US" dirty="0"/>
              <a:t>	Main components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Form components for user 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Resume display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Styling using CSS</a:t>
            </a:r>
          </a:p>
          <a:p>
            <a:r>
              <a:rPr lang="en-US" dirty="0"/>
              <a:t>React helps in creating </a:t>
            </a:r>
            <a:r>
              <a:rPr lang="en-US" b="1" dirty="0"/>
              <a:t>dynamic and reusable UI components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2" name="Picture Placeholder 10" descr="A close up of a toy">
            <a:extLst>
              <a:ext uri="{FF2B5EF4-FFF2-40B4-BE49-F238E27FC236}">
                <a16:creationId xmlns:a16="http://schemas.microsoft.com/office/drawing/2014/main" id="{6B65BD5C-AE7E-223B-871D-9DBA57607E20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" b="26"/>
          <a:stretch/>
        </p:blipFill>
        <p:spPr>
          <a:xfrm>
            <a:off x="8263206" y="5671159"/>
            <a:ext cx="2384497" cy="1186842"/>
          </a:xfrm>
          <a:noFill/>
          <a:effectLst>
            <a:outerShdw blurRad="66753" dist="39609" dir="12780000" sx="101109" sy="101109" algn="t" rotWithShape="0">
              <a:prstClr val="black">
                <a:alpha val="17409"/>
              </a:prstClr>
            </a:outerShdw>
          </a:effectLst>
        </p:spPr>
      </p:pic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C885DDA8-F1C5-9648-B2C8-20A71C6976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93690" y="6190487"/>
            <a:ext cx="846621" cy="365760"/>
          </a:xfrm>
        </p:spPr>
        <p:txBody>
          <a:bodyPr/>
          <a:lstStyle/>
          <a:p>
            <a:fld id="{D1BC2EDA-D519-4F34-BF3F-BFFF500F4B0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31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D83115-C04F-D5C4-E3F7-BD410E9E4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</p:spPr>
        <p:txBody>
          <a:bodyPr/>
          <a:lstStyle/>
          <a:p>
            <a:r>
              <a:rPr lang="en-IN" dirty="0"/>
              <a:t>Future Enhancements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C97F5-6F1F-4C24-CDA9-ADFE70EA2FE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080" y="2002536"/>
            <a:ext cx="11000232" cy="4096512"/>
          </a:xfrm>
        </p:spPr>
        <p:txBody>
          <a:bodyPr/>
          <a:lstStyle/>
          <a:p>
            <a:r>
              <a:rPr lang="en-US" dirty="0"/>
              <a:t>Some improvements that can be added in the future: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Backend integration for data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Resume download as 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resume templates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login and profile saving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AI-based resume suggestions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350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BC9C8-A96E-89A6-C580-90B5CD7D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C877F2-DCC1-053C-B504-298315AB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566928"/>
            <a:ext cx="11119104" cy="640080"/>
          </a:xfrm>
        </p:spPr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C49089-6186-6ABB-B0F0-651A272F14E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080" y="2002536"/>
            <a:ext cx="11000232" cy="4096512"/>
          </a:xfrm>
        </p:spPr>
        <p:txBody>
          <a:bodyPr/>
          <a:lstStyle/>
          <a:p>
            <a:r>
              <a:rPr lang="en-US" dirty="0"/>
              <a:t>The Resume Builder project provides a simple platform to create professional resumes quickly.</a:t>
            </a:r>
          </a:p>
          <a:p>
            <a:r>
              <a:rPr lang="en-US" dirty="0"/>
              <a:t>The current implementation focuses on the </a:t>
            </a:r>
            <a:r>
              <a:rPr lang="en-US" b="1" dirty="0"/>
              <a:t>frontend interface using React</a:t>
            </a:r>
            <a:r>
              <a:rPr lang="en-US" dirty="0"/>
              <a:t>.</a:t>
            </a:r>
          </a:p>
          <a:p>
            <a:r>
              <a:rPr lang="en-US" dirty="0"/>
              <a:t>With further development such as backend integration and additional features, the application can become a </a:t>
            </a:r>
            <a:r>
              <a:rPr lang="en-US" b="1" dirty="0"/>
              <a:t>complete resume generation tool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958449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tutorial">
  <a:themeElements>
    <a:clrScheme name="Custom 27">
      <a:dk1>
        <a:srgbClr val="000000"/>
      </a:dk1>
      <a:lt1>
        <a:srgbClr val="FFFFFF"/>
      </a:lt1>
      <a:dk2>
        <a:srgbClr val="005F73"/>
      </a:dk2>
      <a:lt2>
        <a:srgbClr val="E7E6E6"/>
      </a:lt2>
      <a:accent1>
        <a:srgbClr val="6A205F"/>
      </a:accent1>
      <a:accent2>
        <a:srgbClr val="C74F66"/>
      </a:accent2>
      <a:accent3>
        <a:srgbClr val="C40C67"/>
      </a:accent3>
      <a:accent4>
        <a:srgbClr val="FF7675"/>
      </a:accent4>
      <a:accent5>
        <a:srgbClr val="0696D0"/>
      </a:accent5>
      <a:accent6>
        <a:srgbClr val="360070"/>
      </a:accent6>
      <a:hlink>
        <a:srgbClr val="0563C1"/>
      </a:hlink>
      <a:folHlink>
        <a:srgbClr val="954F72"/>
      </a:folHlink>
    </a:clrScheme>
    <a:fontScheme name="Custom 92">
      <a:majorFont>
        <a:latin typeface="Segoe UI Semibold"/>
        <a:ea typeface=""/>
        <a:cs typeface=""/>
      </a:majorFont>
      <a:minorFont>
        <a:latin typeface="Segoe UI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3161501_Feeling overwhelmed_wac_SL_V2" id="{54A04B33-ABA9-48E3-837F-F7D8E1BC9C01}" vid="{4FC7F71D-D20D-44FB-9BA9-EEFEE62253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D100F2-74DD-462C-BBFE-2504278ADF72}">
  <ds:schemaRefs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230e9df3-be65-4c73-a93b-d1236ebd677e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http://purl.org/dc/elements/1.1/"/>
    <ds:schemaRef ds:uri="71af3243-3dd4-4a8d-8c0d-dd76da1f02a5"/>
    <ds:schemaRef ds:uri="http://schemas.microsoft.com/sharepoint/v3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7D4A114-614A-4F21-A975-61444CD3CF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3CF614-6894-4A97-80E5-9F658EA3A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Feeling overwhelmed</Template>
  <TotalTime>85</TotalTime>
  <Words>426</Words>
  <Application>Microsoft Office PowerPoint</Application>
  <PresentationFormat>Widescreen</PresentationFormat>
  <Paragraphs>87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Segoe UI</vt:lpstr>
      <vt:lpstr>Segoe UI </vt:lpstr>
      <vt:lpstr>Segoe UI Semibold</vt:lpstr>
      <vt:lpstr>powerpoint tutorial</vt:lpstr>
      <vt:lpstr>ResuMe An AI-Powered Resume Builder Web Application</vt:lpstr>
      <vt:lpstr>Introduction</vt:lpstr>
      <vt:lpstr>Problem Statement</vt:lpstr>
      <vt:lpstr>Objectives of the Project</vt:lpstr>
      <vt:lpstr>Technologies Used</vt:lpstr>
      <vt:lpstr>System Architecture</vt:lpstr>
      <vt:lpstr>Key features of the Resume Builder project</vt:lpstr>
      <vt:lpstr>Working of the Application</vt:lpstr>
      <vt:lpstr>Implementation (Frontend)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 Verma;Yash Jaiswal</dc:creator>
  <cp:lastModifiedBy>Yash Jaiswal</cp:lastModifiedBy>
  <cp:revision>2</cp:revision>
  <dcterms:created xsi:type="dcterms:W3CDTF">2026-03-10T04:21:21Z</dcterms:created>
  <dcterms:modified xsi:type="dcterms:W3CDTF">2026-03-10T06:17:02Z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